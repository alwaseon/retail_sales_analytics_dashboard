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9FAFB"/>
                </a:solidFill>
                <a:latin typeface="Segoe UI"/>
              </a:defRPr>
            </a:pPr>
            <a:r>
              <a:t>SUPERSTORE RETAIL PERFORMANCE</a:t>
            </a:r>
            <a:br/>
            <a:r>
              <a:t>OPTIMIZATION DASHBOARD</a:t>
            </a:r>
          </a:p>
          <a:p>
            <a:pPr>
              <a:spcBef>
                <a:spcPts val="2000"/>
              </a:spcBef>
              <a:defRPr sz="2000">
                <a:solidFill>
                  <a:srgbClr val="10B981"/>
                </a:solidFill>
                <a:latin typeface="Segoe UI"/>
              </a:defRPr>
            </a:pPr>
            <a:r>
              <a:t>Final Project Defense | Emil Asqarov, Data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Segoe UI"/>
              </a:defRPr>
            </a:pPr>
            <a:r>
              <a:t>EXECUTIVE CORE KPIS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10817352" cy="4754880"/>
          </a:xfrm>
          <a:prstGeom prst="roundRect">
            <a:avLst/>
          </a:prstGeom>
          <a:solidFill>
            <a:srgbClr val="1F293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1045159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9FAFB"/>
                </a:solidFill>
                <a:latin typeface="Segoe UI"/>
              </a:defRPr>
            </a:pPr>
            <a:r>
              <a:t>• Gross Revenue: $2,297,200.86</a:t>
            </a:r>
          </a:p>
          <a:p>
            <a:pPr>
              <a:spcAft>
                <a:spcPts val="1400"/>
              </a:spcAft>
              <a:defRPr sz="1600">
                <a:solidFill>
                  <a:srgbClr val="F9FAFB"/>
                </a:solidFill>
                <a:latin typeface="Segoe UI"/>
              </a:defRPr>
            </a:pPr>
            <a:r>
              <a:t>• Net Corporate Profit: $286,397.02</a:t>
            </a:r>
          </a:p>
          <a:p>
            <a:pPr>
              <a:spcAft>
                <a:spcPts val="1400"/>
              </a:spcAft>
              <a:defRPr sz="1600">
                <a:solidFill>
                  <a:srgbClr val="F9FAFB"/>
                </a:solidFill>
                <a:latin typeface="Segoe UI"/>
              </a:defRPr>
            </a:pPr>
            <a:r>
              <a:t>• Corporate Profit Margin: 12.47%</a:t>
            </a:r>
          </a:p>
          <a:p>
            <a:pPr>
              <a:spcAft>
                <a:spcPts val="1400"/>
              </a:spcAft>
              <a:defRPr sz="1600">
                <a:solidFill>
                  <a:srgbClr val="F9FAFB"/>
                </a:solidFill>
                <a:latin typeface="Segoe UI"/>
              </a:defRPr>
            </a:pPr>
            <a:r>
              <a:t>• Average Order Value (AOV): $458.61</a:t>
            </a:r>
          </a:p>
          <a:p>
            <a:pPr>
              <a:spcAft>
                <a:spcPts val="1400"/>
              </a:spcAft>
              <a:defRPr sz="1600">
                <a:solidFill>
                  <a:srgbClr val="F9FAFB"/>
                </a:solidFill>
                <a:latin typeface="Segoe UI"/>
              </a:defRPr>
            </a:pPr>
            <a:r>
              <a:t>• Active Customer Ledger: 793 Unique Clients</a:t>
            </a:r>
          </a:p>
          <a:p>
            <a:pPr>
              <a:spcAft>
                <a:spcPts val="1400"/>
              </a:spcAft>
              <a:defRPr sz="1600">
                <a:solidFill>
                  <a:srgbClr val="F9FAFB"/>
                </a:solidFill>
                <a:latin typeface="Segoe UI"/>
              </a:defRPr>
            </a:pPr>
            <a:r>
              <a:t>• Total Shipped Volume: 37,873 Units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Segoe UI"/>
              </a:defRPr>
            </a:pPr>
            <a:r>
              <a:t>DATA ENGINEERING &amp; VALIDATION (WEEKS 1 &amp; 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10817352" cy="4754880"/>
          </a:xfrm>
          <a:prstGeom prst="roundRect">
            <a:avLst/>
          </a:prstGeom>
          <a:solidFill>
            <a:srgbClr val="1F293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1045159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9FAFB"/>
                </a:solidFill>
                <a:latin typeface="Segoe UI"/>
              </a:defRPr>
            </a:pPr>
            <a:r>
              <a:t>• Problem Statement: Raw transaction logs suffered from inconsistent regional locale configurations and critical date parsing errors.</a:t>
            </a:r>
          </a:p>
          <a:p>
            <a:pPr>
              <a:spcAft>
                <a:spcPts val="1400"/>
              </a:spcAft>
              <a:defRPr sz="1600">
                <a:solidFill>
                  <a:srgbClr val="F9FAFB"/>
                </a:solidFill>
                <a:latin typeface="Segoe UI"/>
              </a:defRPr>
            </a:pPr>
            <a:r>
              <a:t>• Data Cleaning Workflow: Utilized Power Query to resolve American/European date format syntax, handle duplicate indices, and cast uniform mathematical types.</a:t>
            </a:r>
          </a:p>
          <a:p>
            <a:pPr>
              <a:spcAft>
                <a:spcPts val="1400"/>
              </a:spcAft>
              <a:defRPr sz="1600">
                <a:solidFill>
                  <a:srgbClr val="F9FAFB"/>
                </a:solidFill>
                <a:latin typeface="Segoe UI"/>
              </a:defRPr>
            </a:pPr>
            <a:r>
              <a:t>• Useful Fields Added: Extracted calendar logic (order_year, order_month), and compiled automated margin metrics to stabilize core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Segoe UI"/>
              </a:defRPr>
            </a:pPr>
            <a:r>
              <a:t>RELATIONAL INFRASTRUCTURE &amp; DATABASE LOAD (WEEK 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10817352" cy="4754880"/>
          </a:xfrm>
          <a:prstGeom prst="roundRect">
            <a:avLst/>
          </a:prstGeom>
          <a:solidFill>
            <a:srgbClr val="1F293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1045159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9FAFB"/>
                </a:solidFill>
                <a:latin typeface="Segoe UI"/>
              </a:defRPr>
            </a:pPr>
            <a:r>
              <a:t>• Database Architecture: Deployed a structured SQL schema mirroring clean enterprise tables to establish a verified data source.</a:t>
            </a:r>
          </a:p>
          <a:p>
            <a:pPr>
              <a:spcAft>
                <a:spcPts val="1400"/>
              </a:spcAft>
              <a:defRPr sz="1600">
                <a:solidFill>
                  <a:srgbClr val="F9FAFB"/>
                </a:solidFill>
                <a:latin typeface="Segoe UI"/>
              </a:defRPr>
            </a:pPr>
            <a:r>
              <a:t>• Data Engineering: Resolved localized numeric notation barriers (converted string commas '261,96' to numeric database dots '261.96') using PostgreSQL ALTER TABLE transformations.</a:t>
            </a:r>
          </a:p>
          <a:p>
            <a:pPr>
              <a:spcAft>
                <a:spcPts val="1400"/>
              </a:spcAft>
              <a:defRPr sz="1600">
                <a:solidFill>
                  <a:srgbClr val="F9FAFB"/>
                </a:solidFill>
                <a:latin typeface="Segoe UI"/>
              </a:defRPr>
            </a:pPr>
            <a:r>
              <a:t>• Query Execution: Loaded 9,994 transactional rows to enable sub-category and customer cohort segmentation via optimized SQL grouping scripts.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Segoe UI"/>
              </a:defRPr>
            </a:pPr>
            <a:r>
              <a:t>ADVANCED DISCOUNT ELASTICITY INSIGHTS (WEEK 4 DEEP-DIVE)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10817352" cy="4754880"/>
          </a:xfrm>
          <a:prstGeom prst="roundRect">
            <a:avLst/>
          </a:prstGeom>
          <a:solidFill>
            <a:srgbClr val="1F293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1045159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9FAFB"/>
                </a:solidFill>
                <a:latin typeface="Segoe UI"/>
              </a:defRPr>
            </a:pPr>
            <a:r>
              <a:t>• DAX Implementation: Built a dedicated 'Discount Profit Margin' DAX measure to test profit health against aggressive pricing models.</a:t>
            </a:r>
          </a:p>
          <a:p>
            <a:pPr>
              <a:spcAft>
                <a:spcPts val="1400"/>
              </a:spcAft>
              <a:defRPr sz="1600">
                <a:solidFill>
                  <a:srgbClr val="F9FAFB"/>
                </a:solidFill>
                <a:latin typeface="Segoe UI"/>
              </a:defRPr>
            </a:pPr>
            <a:r>
              <a:t>• The Core Discovery: Proved that a 10%-20% discount structure maintains a healthy net return, but pushing past a 50% discount ceiling triggers exponential decay.</a:t>
            </a:r>
          </a:p>
          <a:p>
            <a:pPr>
              <a:spcAft>
                <a:spcPts val="1400"/>
              </a:spcAft>
              <a:defRPr sz="1600">
                <a:solidFill>
                  <a:srgbClr val="F9FAFB"/>
                </a:solidFill>
                <a:latin typeface="Segoe UI"/>
              </a:defRPr>
            </a:pPr>
            <a:r>
              <a:t>• Catastrophic Collapse: At 70% and 80% off, net margin drops to a devastating floor of nearly -150%, actively destroying corporate capital.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Segoe UI"/>
              </a:defRPr>
            </a:pPr>
            <a:r>
              <a:t>STRATEGIC RECOMMENDATIONS FOR LEADERSHIP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10817352" cy="4754880"/>
          </a:xfrm>
          <a:prstGeom prst="roundRect">
            <a:avLst/>
          </a:prstGeom>
          <a:solidFill>
            <a:srgbClr val="1F293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1045159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9FAFB"/>
                </a:solidFill>
                <a:latin typeface="Segoe UI"/>
              </a:defRPr>
            </a:pPr>
            <a:r>
              <a:t>• Discount Cap: Enforce a hard 30% ceiling on promotional discounts for large furniture and high-tech lines to avoid negative returns.</a:t>
            </a:r>
          </a:p>
          <a:p>
            <a:pPr>
              <a:spcAft>
                <a:spcPts val="1400"/>
              </a:spcAft>
              <a:defRPr sz="1600">
                <a:solidFill>
                  <a:srgbClr val="F9FAFB"/>
                </a:solidFill>
                <a:latin typeface="Segoe UI"/>
              </a:defRPr>
            </a:pPr>
            <a:r>
              <a:t>• Logistics Restructuring: Terminate blanket free bulk shipping policies for oversized sub-categories (Tables, Bookcases) to protect net margins.</a:t>
            </a:r>
          </a:p>
          <a:p>
            <a:pPr>
              <a:spcAft>
                <a:spcPts val="1400"/>
              </a:spcAft>
              <a:defRPr sz="1600">
                <a:solidFill>
                  <a:srgbClr val="F9FAFB"/>
                </a:solidFill>
                <a:latin typeface="Segoe UI"/>
              </a:defRPr>
            </a:pPr>
            <a:r>
              <a:t>• Loyalty Matrix: Implement custom account management systems for the top-tier High-Value corporate accounts that secure the baseline of net recurring revenue.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